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206240" y="2331720"/>
            <a:ext cx="502920" cy="502920"/>
          </a:xfrm>
          <a:prstGeom prst="ellipse">
            <a:avLst/>
          </a:prstGeom>
          <a:solidFill>
            <a:srgbClr val="CADCFC"/>
          </a:solidFill>
          <a:ln/>
        </p:spPr>
      </p:sp>
      <p:sp>
        <p:nvSpPr>
          <p:cNvPr id="3" name="Shape 1"/>
          <p:cNvSpPr/>
          <p:nvPr/>
        </p:nvSpPr>
        <p:spPr>
          <a:xfrm>
            <a:off x="4709160" y="2551176"/>
            <a:ext cx="1143000" cy="64008"/>
          </a:xfrm>
          <a:prstGeom prst="rect">
            <a:avLst/>
          </a:prstGeom>
          <a:solidFill>
            <a:srgbClr val="CADCFC"/>
          </a:solidFill>
          <a:ln/>
        </p:spPr>
      </p:sp>
      <p:sp>
        <p:nvSpPr>
          <p:cNvPr id="4" name="Shape 2"/>
          <p:cNvSpPr/>
          <p:nvPr/>
        </p:nvSpPr>
        <p:spPr>
          <a:xfrm>
            <a:off x="5852160" y="2331720"/>
            <a:ext cx="502920" cy="502920"/>
          </a:xfrm>
          <a:prstGeom prst="ellipse">
            <a:avLst/>
          </a:prstGeom>
          <a:solidFill>
            <a:srgbClr val="F0B429"/>
          </a:solidFill>
          <a:ln/>
        </p:spPr>
      </p:sp>
      <p:sp>
        <p:nvSpPr>
          <p:cNvPr id="5" name="Shape 3"/>
          <p:cNvSpPr/>
          <p:nvPr/>
        </p:nvSpPr>
        <p:spPr>
          <a:xfrm>
            <a:off x="6355080" y="2551176"/>
            <a:ext cx="1143000" cy="64008"/>
          </a:xfrm>
          <a:prstGeom prst="rect">
            <a:avLst/>
          </a:prstGeom>
          <a:solidFill>
            <a:srgbClr val="CADCFC"/>
          </a:solidFill>
          <a:ln/>
        </p:spPr>
      </p:sp>
      <p:sp>
        <p:nvSpPr>
          <p:cNvPr id="6" name="Shape 4"/>
          <p:cNvSpPr/>
          <p:nvPr/>
        </p:nvSpPr>
        <p:spPr>
          <a:xfrm>
            <a:off x="7498080" y="2331720"/>
            <a:ext cx="502920" cy="502920"/>
          </a:xfrm>
          <a:prstGeom prst="ellipse">
            <a:avLst/>
          </a:prstGeom>
          <a:solidFill>
            <a:srgbClr val="CADCFC"/>
          </a:solidFill>
          <a:ln/>
        </p:spPr>
      </p:sp>
      <p:sp>
        <p:nvSpPr>
          <p:cNvPr id="7" name="Text 5"/>
          <p:cNvSpPr/>
          <p:nvPr/>
        </p:nvSpPr>
        <p:spPr>
          <a:xfrm>
            <a:off x="3977640" y="2926080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spc="300" kern="0" dirty="0">
                <a:solidFill>
                  <a:srgbClr val="CADCF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CLAIM  →  证据  →  价值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731520" y="3429000"/>
            <a:ext cx="1069848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Claim2Value</a:t>
            </a:r>
            <a:endParaRPr lang="en-US" sz="5400" dirty="0"/>
          </a:p>
        </p:txBody>
      </p:sp>
      <p:sp>
        <p:nvSpPr>
          <p:cNvPr id="9" name="Text 7"/>
          <p:cNvSpPr/>
          <p:nvPr/>
        </p:nvSpPr>
        <p:spPr>
          <a:xfrm>
            <a:off x="731520" y="4526280"/>
            <a:ext cx="10698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100" dirty="0">
                <a:solidFill>
                  <a:srgbClr val="CADCF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工业技术 Claim 到金融价值的可信映射 Agent</a:t>
            </a:r>
            <a:endParaRPr lang="en-US" sz="2100" dirty="0"/>
          </a:p>
        </p:txBody>
      </p:sp>
      <p:sp>
        <p:nvSpPr>
          <p:cNvPr id="10" name="Text 8"/>
          <p:cNvSpPr/>
          <p:nvPr/>
        </p:nvSpPr>
        <p:spPr>
          <a:xfrm>
            <a:off x="731520" y="5166360"/>
            <a:ext cx="10698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F0B42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把「公司说自己技术多牛」变成「证据支持的财务影响」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731520" y="6080760"/>
            <a:ext cx="10698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北大金融 AI 智能体创新大赛  ·  机器人关节模组产业链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685800" y="384048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0B42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PROBLEM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658368" y="749808"/>
            <a:ext cx="107899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痛点：工程信号与金融决策之间的信息断层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85800" y="1783080"/>
            <a:ext cx="3749040" cy="2286000"/>
          </a:xfrm>
          <a:prstGeom prst="roundRect">
            <a:avLst>
              <a:gd name="adj" fmla="val 3600"/>
            </a:avLst>
          </a:prstGeom>
          <a:solidFill>
            <a:srgbClr val="F4F7FE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68680" y="1920240"/>
            <a:ext cx="3383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产业链技术信号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868680" y="2331720"/>
            <a:ext cx="338328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250" dirty="0">
                <a:solidFill>
                  <a:srgbClr val="212121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· 减速器扭矩密度提升公告
</a:t>
            </a:r>
            <a:pPr indent="0" marL="0">
              <a:lnSpc>
                <a:spcPts val="2000"/>
              </a:lnSpc>
              <a:buNone/>
            </a:pPr>
            <a:r>
              <a:rPr lang="en-US" sz="1250" dirty="0">
                <a:solidFill>
                  <a:srgbClr val="212121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· 丝杠量产与订单落地
</a:t>
            </a:r>
            <a:pPr indent="0" marL="0">
              <a:lnSpc>
                <a:spcPts val="2000"/>
              </a:lnSpc>
              <a:buNone/>
            </a:pPr>
            <a:r>
              <a:rPr lang="en-US" sz="1250" dirty="0">
                <a:solidFill>
                  <a:srgbClr val="212121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· 募投扩产 / 产能爬坡
</a:t>
            </a:r>
            <a:pPr indent="0" marL="0">
              <a:lnSpc>
                <a:spcPts val="2000"/>
              </a:lnSpc>
              <a:buNone/>
            </a:pPr>
            <a:r>
              <a:rPr lang="en-US" sz="1250" dirty="0">
                <a:solidFill>
                  <a:srgbClr val="212121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· 新品发布与参数宣称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7726680" y="1783080"/>
            <a:ext cx="3749040" cy="2286000"/>
          </a:xfrm>
          <a:prstGeom prst="roundRect">
            <a:avLst>
              <a:gd name="adj" fmla="val 3600"/>
            </a:avLst>
          </a:prstGeom>
          <a:solidFill>
            <a:srgbClr val="F4F7FE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909560" y="1920240"/>
            <a:ext cx="3383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金融决策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7909560" y="2331720"/>
            <a:ext cx="338328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250" dirty="0">
                <a:solidFill>
                  <a:srgbClr val="212121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· 这条技术宣称值多少钱？
</a:t>
            </a:r>
            <a:pPr indent="0" marL="0">
              <a:lnSpc>
                <a:spcPts val="2000"/>
              </a:lnSpc>
              <a:buNone/>
            </a:pPr>
            <a:r>
              <a:rPr lang="en-US" sz="1250" dirty="0">
                <a:solidFill>
                  <a:srgbClr val="212121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· 证据强度够不够写进报告？
</a:t>
            </a:r>
            <a:pPr indent="0" marL="0">
              <a:lnSpc>
                <a:spcPts val="2000"/>
              </a:lnSpc>
              <a:buNone/>
            </a:pPr>
            <a:r>
              <a:rPr lang="en-US" sz="1250" dirty="0">
                <a:solidFill>
                  <a:srgbClr val="212121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· 买 / 卖 / 持有的赔率判断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4526280" y="2514600"/>
            <a:ext cx="3108960" cy="822960"/>
          </a:xfrm>
          <a:prstGeom prst="rightArrow">
            <a:avLst/>
          </a:prstGeom>
          <a:solidFill>
            <a:srgbClr val="F0B429"/>
          </a:solidFill>
          <a:ln/>
        </p:spPr>
      </p:sp>
      <p:sp>
        <p:nvSpPr>
          <p:cNvPr id="12" name="Text 10"/>
          <p:cNvSpPr/>
          <p:nvPr/>
        </p:nvSpPr>
        <p:spPr>
          <a:xfrm>
            <a:off x="4526280" y="2578608"/>
            <a:ext cx="310896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断层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685800" y="4434840"/>
            <a:ext cx="457200" cy="45720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4" name="Text 12"/>
          <p:cNvSpPr/>
          <p:nvPr/>
        </p:nvSpPr>
        <p:spPr>
          <a:xfrm>
            <a:off x="685800" y="4416552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1252728" y="4434840"/>
            <a:ext cx="3200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人肉翻译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685800" y="5029200"/>
            <a:ext cx="365760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212121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工程宣称到财务影响靠人工转译，慢、不可复算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4572000" y="4434840"/>
            <a:ext cx="457200" cy="45720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8" name="Text 16"/>
          <p:cNvSpPr/>
          <p:nvPr/>
        </p:nvSpPr>
        <p:spPr>
          <a:xfrm>
            <a:off x="4572000" y="4416552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5138928" y="4434840"/>
            <a:ext cx="3200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口径打架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4572000" y="5029200"/>
            <a:ext cx="365760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212121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卖方研报各说各话——降价假设已被现实击穿（ASP 1,500 假设 vs 实际 1,293 元）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8458200" y="4434840"/>
            <a:ext cx="457200" cy="45720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22" name="Text 20"/>
          <p:cNvSpPr/>
          <p:nvPr/>
        </p:nvSpPr>
        <p:spPr>
          <a:xfrm>
            <a:off x="8458200" y="4416552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3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9025128" y="4434840"/>
            <a:ext cx="3200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真假难辨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8458200" y="5029200"/>
            <a:ext cx="365760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212121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买方无法区分「已验证证据」与「公司话术」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8412480" y="6446520"/>
            <a:ext cx="3566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37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02_problem</a:t>
            </a:r>
            <a:pPr algn="r" indent="0" marL="0">
              <a:buNone/>
            </a:pPr>
            <a:r>
              <a:rPr lang="en-US" sz="1000" dirty="0">
                <a:solidFill>
                  <a:srgbClr val="5A637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   02 / 12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685800" y="384048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0B42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PRODUCT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658368" y="749808"/>
            <a:ext cx="107899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产品：从 Claim 到估值的可信流水线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1828800"/>
            <a:ext cx="1481328" cy="777240"/>
          </a:xfrm>
          <a:prstGeom prst="roundRect">
            <a:avLst>
              <a:gd name="adj" fmla="val 10588"/>
            </a:avLst>
          </a:prstGeom>
          <a:solidFill>
            <a:srgbClr val="1E2761"/>
          </a:solidFill>
          <a:ln/>
        </p:spPr>
      </p:sp>
      <p:sp>
        <p:nvSpPr>
          <p:cNvPr id="6" name="Text 4"/>
          <p:cNvSpPr/>
          <p:nvPr/>
        </p:nvSpPr>
        <p:spPr>
          <a:xfrm>
            <a:off x="640080" y="1828800"/>
            <a:ext cx="1481328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Claim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2103120" y="2130552"/>
            <a:ext cx="219456" cy="182880"/>
          </a:xfrm>
          <a:prstGeom prst="rightArrow">
            <a:avLst/>
          </a:prstGeom>
          <a:solidFill>
            <a:srgbClr val="5A6372"/>
          </a:solidFill>
          <a:ln/>
        </p:spPr>
      </p:sp>
      <p:sp>
        <p:nvSpPr>
          <p:cNvPr id="8" name="Shape 6"/>
          <p:cNvSpPr/>
          <p:nvPr/>
        </p:nvSpPr>
        <p:spPr>
          <a:xfrm>
            <a:off x="2304288" y="1828800"/>
            <a:ext cx="1481328" cy="777240"/>
          </a:xfrm>
          <a:prstGeom prst="roundRect">
            <a:avLst>
              <a:gd name="adj" fmla="val 10588"/>
            </a:avLst>
          </a:prstGeom>
          <a:solidFill>
            <a:srgbClr val="F0B429"/>
          </a:solidFill>
          <a:ln/>
        </p:spPr>
      </p:sp>
      <p:sp>
        <p:nvSpPr>
          <p:cNvPr id="9" name="Text 7"/>
          <p:cNvSpPr/>
          <p:nvPr/>
        </p:nvSpPr>
        <p:spPr>
          <a:xfrm>
            <a:off x="2304288" y="1828800"/>
            <a:ext cx="1481328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验证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3767328" y="2130552"/>
            <a:ext cx="219456" cy="182880"/>
          </a:xfrm>
          <a:prstGeom prst="rightArrow">
            <a:avLst/>
          </a:prstGeom>
          <a:solidFill>
            <a:srgbClr val="5A6372"/>
          </a:solidFill>
          <a:ln/>
        </p:spPr>
      </p:sp>
      <p:sp>
        <p:nvSpPr>
          <p:cNvPr id="11" name="Shape 9"/>
          <p:cNvSpPr/>
          <p:nvPr/>
        </p:nvSpPr>
        <p:spPr>
          <a:xfrm>
            <a:off x="3968496" y="1828800"/>
            <a:ext cx="1481328" cy="777240"/>
          </a:xfrm>
          <a:prstGeom prst="roundRect">
            <a:avLst>
              <a:gd name="adj" fmla="val 10588"/>
            </a:avLst>
          </a:prstGeom>
          <a:solidFill>
            <a:srgbClr val="1E2761"/>
          </a:solidFill>
          <a:ln/>
        </p:spPr>
      </p:sp>
      <p:sp>
        <p:nvSpPr>
          <p:cNvPr id="12" name="Text 10"/>
          <p:cNvSpPr/>
          <p:nvPr/>
        </p:nvSpPr>
        <p:spPr>
          <a:xfrm>
            <a:off x="3968496" y="1828800"/>
            <a:ext cx="1481328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门控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5431536" y="2130552"/>
            <a:ext cx="219456" cy="182880"/>
          </a:xfrm>
          <a:prstGeom prst="rightArrow">
            <a:avLst/>
          </a:prstGeom>
          <a:solidFill>
            <a:srgbClr val="5A6372"/>
          </a:solidFill>
          <a:ln/>
        </p:spPr>
      </p:sp>
      <p:sp>
        <p:nvSpPr>
          <p:cNvPr id="14" name="Shape 12"/>
          <p:cNvSpPr/>
          <p:nvPr/>
        </p:nvSpPr>
        <p:spPr>
          <a:xfrm>
            <a:off x="5632704" y="1828800"/>
            <a:ext cx="1481328" cy="777240"/>
          </a:xfrm>
          <a:prstGeom prst="roundRect">
            <a:avLst>
              <a:gd name="adj" fmla="val 10588"/>
            </a:avLst>
          </a:prstGeom>
          <a:solidFill>
            <a:srgbClr val="1E2761"/>
          </a:solidFill>
          <a:ln/>
        </p:spPr>
      </p:sp>
      <p:sp>
        <p:nvSpPr>
          <p:cNvPr id="15" name="Text 13"/>
          <p:cNvSpPr/>
          <p:nvPr/>
        </p:nvSpPr>
        <p:spPr>
          <a:xfrm>
            <a:off x="5632704" y="1828800"/>
            <a:ext cx="1481328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工程归一化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7095744" y="2130552"/>
            <a:ext cx="219456" cy="182880"/>
          </a:xfrm>
          <a:prstGeom prst="rightArrow">
            <a:avLst/>
          </a:prstGeom>
          <a:solidFill>
            <a:srgbClr val="5A6372"/>
          </a:solidFill>
          <a:ln/>
        </p:spPr>
      </p:sp>
      <p:sp>
        <p:nvSpPr>
          <p:cNvPr id="17" name="Shape 15"/>
          <p:cNvSpPr/>
          <p:nvPr/>
        </p:nvSpPr>
        <p:spPr>
          <a:xfrm>
            <a:off x="7296912" y="1828800"/>
            <a:ext cx="1481328" cy="777240"/>
          </a:xfrm>
          <a:prstGeom prst="roundRect">
            <a:avLst>
              <a:gd name="adj" fmla="val 10588"/>
            </a:avLst>
          </a:prstGeom>
          <a:solidFill>
            <a:srgbClr val="1E2761"/>
          </a:solidFill>
          <a:ln/>
        </p:spPr>
      </p:sp>
      <p:sp>
        <p:nvSpPr>
          <p:cNvPr id="18" name="Text 16"/>
          <p:cNvSpPr/>
          <p:nvPr/>
        </p:nvSpPr>
        <p:spPr>
          <a:xfrm>
            <a:off x="7296912" y="1828800"/>
            <a:ext cx="1481328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经济映射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8759952" y="2130552"/>
            <a:ext cx="219456" cy="182880"/>
          </a:xfrm>
          <a:prstGeom prst="rightArrow">
            <a:avLst/>
          </a:prstGeom>
          <a:solidFill>
            <a:srgbClr val="5A6372"/>
          </a:solidFill>
          <a:ln/>
        </p:spPr>
      </p:sp>
      <p:sp>
        <p:nvSpPr>
          <p:cNvPr id="20" name="Shape 18"/>
          <p:cNvSpPr/>
          <p:nvPr/>
        </p:nvSpPr>
        <p:spPr>
          <a:xfrm>
            <a:off x="8961120" y="1828800"/>
            <a:ext cx="1481328" cy="777240"/>
          </a:xfrm>
          <a:prstGeom prst="roundRect">
            <a:avLst>
              <a:gd name="adj" fmla="val 10588"/>
            </a:avLst>
          </a:prstGeom>
          <a:solidFill>
            <a:srgbClr val="F0B429"/>
          </a:solidFill>
          <a:ln/>
        </p:spPr>
      </p:sp>
      <p:sp>
        <p:nvSpPr>
          <p:cNvPr id="21" name="Text 19"/>
          <p:cNvSpPr/>
          <p:nvPr/>
        </p:nvSpPr>
        <p:spPr>
          <a:xfrm>
            <a:off x="8961120" y="1828800"/>
            <a:ext cx="1481328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因果批判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10424160" y="2130552"/>
            <a:ext cx="219456" cy="182880"/>
          </a:xfrm>
          <a:prstGeom prst="rightArrow">
            <a:avLst/>
          </a:prstGeom>
          <a:solidFill>
            <a:srgbClr val="5A6372"/>
          </a:solidFill>
          <a:ln/>
        </p:spPr>
      </p:sp>
      <p:sp>
        <p:nvSpPr>
          <p:cNvPr id="23" name="Shape 21"/>
          <p:cNvSpPr/>
          <p:nvPr/>
        </p:nvSpPr>
        <p:spPr>
          <a:xfrm>
            <a:off x="10625328" y="1828800"/>
            <a:ext cx="1481328" cy="777240"/>
          </a:xfrm>
          <a:prstGeom prst="roundRect">
            <a:avLst>
              <a:gd name="adj" fmla="val 10588"/>
            </a:avLst>
          </a:prstGeom>
          <a:solidFill>
            <a:srgbClr val="1E2761"/>
          </a:solidFill>
          <a:ln/>
        </p:spPr>
      </p:sp>
      <p:sp>
        <p:nvSpPr>
          <p:cNvPr id="24" name="Text 22"/>
          <p:cNvSpPr/>
          <p:nvPr/>
        </p:nvSpPr>
        <p:spPr>
          <a:xfrm>
            <a:off x="10625328" y="1828800"/>
            <a:ext cx="1481328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财务三情景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85800" y="2743200"/>
            <a:ext cx="10789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5A637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验证层与批判层是别家没有的两道闸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685800" y="3291840"/>
            <a:ext cx="5394960" cy="1298448"/>
          </a:xfrm>
          <a:prstGeom prst="roundRect">
            <a:avLst>
              <a:gd name="adj" fmla="val 6338"/>
            </a:avLst>
          </a:prstGeom>
          <a:solidFill>
            <a:srgbClr val="F4F7FE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914400" y="3401568"/>
            <a:ext cx="49377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传导而非并存</a:t>
            </a:r>
            <a:endParaRPr lang="en-US" sz="1500" dirty="0"/>
          </a:p>
        </p:txBody>
      </p:sp>
      <p:sp>
        <p:nvSpPr>
          <p:cNvPr id="28" name="Text 26"/>
          <p:cNvSpPr/>
          <p:nvPr/>
        </p:nvSpPr>
        <p:spPr>
          <a:xfrm>
            <a:off x="914400" y="3794760"/>
            <a:ext cx="49834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12121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验证结论直接传导进估值假设，不是「验证归验证、财务照算」的两套数字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6309360" y="3291840"/>
            <a:ext cx="5394960" cy="1298448"/>
          </a:xfrm>
          <a:prstGeom prst="roundRect">
            <a:avLst>
              <a:gd name="adj" fmla="val 6338"/>
            </a:avLst>
          </a:prstGeom>
          <a:solidFill>
            <a:srgbClr val="F4F7FE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537960" y="3401568"/>
            <a:ext cx="49377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逐条溯源</a:t>
            </a:r>
            <a:endParaRPr lang="en-US" sz="1500" dirty="0"/>
          </a:p>
        </p:txBody>
      </p:sp>
      <p:sp>
        <p:nvSpPr>
          <p:cNvPr id="31" name="Text 29"/>
          <p:cNvSpPr/>
          <p:nvPr/>
        </p:nvSpPr>
        <p:spPr>
          <a:xfrm>
            <a:off x="6537960" y="3794760"/>
            <a:ext cx="49834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12121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每条假设带证据等级 + 置信度 + provenance 链，可一键回溯公告原文页码</a:t>
            </a:r>
            <a:endParaRPr lang="en-US" sz="1150" dirty="0"/>
          </a:p>
        </p:txBody>
      </p:sp>
      <p:sp>
        <p:nvSpPr>
          <p:cNvPr id="32" name="Shape 30"/>
          <p:cNvSpPr/>
          <p:nvPr/>
        </p:nvSpPr>
        <p:spPr>
          <a:xfrm>
            <a:off x="685800" y="4773168"/>
            <a:ext cx="5394960" cy="1298448"/>
          </a:xfrm>
          <a:prstGeom prst="roundRect">
            <a:avLst>
              <a:gd name="adj" fmla="val 6338"/>
            </a:avLst>
          </a:prstGeom>
          <a:solidFill>
            <a:srgbClr val="F4F7FE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914400" y="4882896"/>
            <a:ext cx="49377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透明打折</a:t>
            </a:r>
            <a:endParaRPr lang="en-US" sz="1500" dirty="0"/>
          </a:p>
        </p:txBody>
      </p:sp>
      <p:sp>
        <p:nvSpPr>
          <p:cNvPr id="34" name="Text 32"/>
          <p:cNvSpPr/>
          <p:nvPr/>
        </p:nvSpPr>
        <p:spPr>
          <a:xfrm>
            <a:off x="914400" y="5276088"/>
            <a:ext cx="49834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12121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因果批判层区分行业 β 与公司 α，置信度从 0.5 打到 0.32，折扣写在输出里</a:t>
            </a:r>
            <a:endParaRPr lang="en-US" sz="1150" dirty="0"/>
          </a:p>
        </p:txBody>
      </p:sp>
      <p:sp>
        <p:nvSpPr>
          <p:cNvPr id="35" name="Shape 33"/>
          <p:cNvSpPr/>
          <p:nvPr/>
        </p:nvSpPr>
        <p:spPr>
          <a:xfrm>
            <a:off x="6309360" y="4773168"/>
            <a:ext cx="5394960" cy="1298448"/>
          </a:xfrm>
          <a:prstGeom prst="roundRect">
            <a:avLst>
              <a:gd name="adj" fmla="val 6338"/>
            </a:avLst>
          </a:prstGeom>
          <a:solidFill>
            <a:srgbClr val="F4F7FE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537960" y="4882896"/>
            <a:ext cx="49377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三栏输入</a:t>
            </a:r>
            <a:endParaRPr lang="en-US" sz="1500" dirty="0"/>
          </a:p>
        </p:txBody>
      </p:sp>
      <p:sp>
        <p:nvSpPr>
          <p:cNvPr id="37" name="Text 35"/>
          <p:cNvSpPr/>
          <p:nvPr/>
        </p:nvSpPr>
        <p:spPr>
          <a:xfrm>
            <a:off x="6537960" y="5276088"/>
            <a:ext cx="49834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12121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每个输入分历史锚点 / 人工假设 / 计算结果三栏，评审知道每个数字从哪来</a:t>
            </a:r>
            <a:endParaRPr lang="en-US" sz="1150" dirty="0"/>
          </a:p>
        </p:txBody>
      </p:sp>
      <p:sp>
        <p:nvSpPr>
          <p:cNvPr id="38" name="Text 36"/>
          <p:cNvSpPr/>
          <p:nvPr/>
        </p:nvSpPr>
        <p:spPr>
          <a:xfrm>
            <a:off x="8412480" y="6446520"/>
            <a:ext cx="3566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37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03_product</a:t>
            </a:r>
            <a:pPr algn="r" indent="0" marL="0">
              <a:buNone/>
            </a:pPr>
            <a:r>
              <a:rPr lang="en-US" sz="1000" dirty="0">
                <a:solidFill>
                  <a:srgbClr val="5A637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   03 / 12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685800" y="384048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0B42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EVIDENCE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658368" y="749808"/>
            <a:ext cx="107899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证据网络：11 家公司 · 51 条结构化 Claim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85800" y="1828800"/>
            <a:ext cx="3520440" cy="1828800"/>
          </a:xfrm>
          <a:prstGeom prst="roundRect">
            <a:avLst>
              <a:gd name="adj" fmla="val 4500"/>
            </a:avLst>
          </a:prstGeom>
          <a:solidFill>
            <a:srgbClr val="F4F7FE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77240" y="1938528"/>
            <a:ext cx="333756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1E2761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51</a:t>
            </a:r>
            <a:endParaRPr lang="en-US" sz="3600" dirty="0"/>
          </a:p>
        </p:txBody>
      </p:sp>
      <p:sp>
        <p:nvSpPr>
          <p:cNvPr id="7" name="Text 5"/>
          <p:cNvSpPr/>
          <p:nvPr/>
        </p:nvSpPr>
        <p:spPr>
          <a:xfrm>
            <a:off x="777240" y="2724912"/>
            <a:ext cx="3337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12121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结构化 Claim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777240" y="3090672"/>
            <a:ext cx="3337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A637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覆盖谐波/RV/丝杠/电机全链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343400" y="1828800"/>
            <a:ext cx="3520440" cy="1828800"/>
          </a:xfrm>
          <a:prstGeom prst="roundRect">
            <a:avLst>
              <a:gd name="adj" fmla="val 4500"/>
            </a:avLst>
          </a:prstGeom>
          <a:solidFill>
            <a:srgbClr val="F4F7FE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434840" y="1938528"/>
            <a:ext cx="333756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1E2761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47</a:t>
            </a:r>
            <a:endParaRPr lang="en-US" sz="3600" dirty="0"/>
          </a:p>
        </p:txBody>
      </p:sp>
      <p:sp>
        <p:nvSpPr>
          <p:cNvPr id="11" name="Text 9"/>
          <p:cNvSpPr/>
          <p:nvPr/>
        </p:nvSpPr>
        <p:spPr>
          <a:xfrm>
            <a:off x="4434840" y="2724912"/>
            <a:ext cx="3337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12121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已验证（公告原文级）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4434840" y="3090672"/>
            <a:ext cx="3337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A637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页码定位 + 内容指纹，双源互证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8001000" y="1828800"/>
            <a:ext cx="3520440" cy="1828800"/>
          </a:xfrm>
          <a:prstGeom prst="roundRect">
            <a:avLst>
              <a:gd name="adj" fmla="val 4500"/>
            </a:avLst>
          </a:prstGeom>
          <a:solidFill>
            <a:srgbClr val="F4F7FE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092440" y="1938528"/>
            <a:ext cx="333756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1E2761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4</a:t>
            </a:r>
            <a:endParaRPr lang="en-US" sz="3600" dirty="0"/>
          </a:p>
        </p:txBody>
      </p:sp>
      <p:sp>
        <p:nvSpPr>
          <p:cNvPr id="15" name="Text 13"/>
          <p:cNvSpPr/>
          <p:nvPr/>
        </p:nvSpPr>
        <p:spPr>
          <a:xfrm>
            <a:off x="8092440" y="2724912"/>
            <a:ext cx="3337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12121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待终验（显式标注）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8092440" y="3090672"/>
            <a:ext cx="3337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A637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不假装验证过——分级即诚信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685800" y="3977640"/>
            <a:ext cx="107899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2200"/>
              </a:lnSpc>
              <a:buNone/>
            </a:pPr>
            <a:r>
              <a:rPr lang="en-US" sz="1300" dirty="0">
                <a:solidFill>
                  <a:srgbClr val="212121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绿的谐波 · 双环传动（环动科技）· 步科股份 · 中大力德 · 鸣志电器 · 柯力传感
</a:t>
            </a:r>
            <a:endParaRPr lang="en-US" sz="1300" dirty="0"/>
          </a:p>
          <a:p>
            <a:pPr algn="ctr" indent="0" marL="0">
              <a:lnSpc>
                <a:spcPts val="2200"/>
              </a:lnSpc>
              <a:buNone/>
            </a:pPr>
            <a:r>
              <a:rPr lang="en-US" sz="1300" dirty="0">
                <a:solidFill>
                  <a:srgbClr val="212121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五洲新春 · 贝斯特 · 恒立液压 · 国茂股份 · 秦川机床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685800" y="4937760"/>
            <a:ext cx="10835640" cy="1143000"/>
          </a:xfrm>
          <a:prstGeom prst="roundRect">
            <a:avLst>
              <a:gd name="adj" fmla="val 7200"/>
            </a:avLst>
          </a:prstGeom>
          <a:solidFill>
            <a:srgbClr val="1E2761"/>
          </a:solidFill>
          <a:ln/>
        </p:spPr>
      </p:sp>
      <p:sp>
        <p:nvSpPr>
          <p:cNvPr id="19" name="Text 17"/>
          <p:cNvSpPr/>
          <p:nvPr/>
        </p:nvSpPr>
        <p:spPr>
          <a:xfrm>
            <a:off x="960120" y="5074920"/>
            <a:ext cx="102870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b="1" dirty="0">
                <a:solidFill>
                  <a:srgbClr val="F0B42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2026-09-09 终验实证：</a:t>
            </a:r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11 条 claim 经巨潮公告原文逐字核对升级（含 SH_003——券商研报把半年报累计数误标为单季，被口径审查捕获并以官方原文纠偏）</a:t>
            </a:r>
            <a:endParaRPr lang="en-US" sz="1250" dirty="0"/>
          </a:p>
        </p:txBody>
      </p:sp>
      <p:sp>
        <p:nvSpPr>
          <p:cNvPr id="20" name="Text 18"/>
          <p:cNvSpPr/>
          <p:nvPr/>
        </p:nvSpPr>
        <p:spPr>
          <a:xfrm>
            <a:off x="8412480" y="6446520"/>
            <a:ext cx="3566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37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04_case_study / claim_bank_filled.json</a:t>
            </a:r>
            <a:pPr algn="r" indent="0" marL="0">
              <a:buNone/>
            </a:pPr>
            <a:r>
              <a:rPr lang="en-US" sz="1000" dirty="0">
                <a:solidFill>
                  <a:srgbClr val="5A637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   04 / 12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685800" y="384048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0B42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CASE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658368" y="749808"/>
            <a:ext cx="107899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深度案例：一条 Claim 的一生（绿的谐波）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85800" y="1783080"/>
            <a:ext cx="6949440" cy="841248"/>
          </a:xfrm>
          <a:prstGeom prst="roundRect">
            <a:avLst>
              <a:gd name="adj" fmla="val 9783"/>
            </a:avLst>
          </a:prstGeom>
          <a:solidFill>
            <a:srgbClr val="F4F7FE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68680" y="1837944"/>
            <a:ext cx="1920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① 输入与检出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2834640" y="1837944"/>
            <a:ext cx="46634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212121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「关节模组减重 30%」→ 规则检出限定词缺失（原文「同等出力情况下」被丢）→ 部分成立，置信度 0.3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685800" y="2752344"/>
            <a:ext cx="6949440" cy="841248"/>
          </a:xfrm>
          <a:prstGeom prst="roundRect">
            <a:avLst>
              <a:gd name="adj" fmla="val 9783"/>
            </a:avLst>
          </a:prstGeom>
          <a:solidFill>
            <a:srgbClr val="F4F7FE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68680" y="2807208"/>
            <a:ext cx="1920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② 门控与归一化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2834640" y="2807208"/>
            <a:ext cx="46634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212121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门控放行 → 14 行参数归一化：4 行可比、10 行明确标记不可比（不可比的不硬算）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685800" y="3721608"/>
            <a:ext cx="6949440" cy="841248"/>
          </a:xfrm>
          <a:prstGeom prst="roundRect">
            <a:avLst>
              <a:gd name="adj" fmla="val 9783"/>
            </a:avLst>
          </a:prstGeom>
          <a:solidFill>
            <a:srgbClr val="F4F7FE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68680" y="3776472"/>
            <a:ext cx="1920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③ 经济映射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2834640" y="3776472"/>
            <a:ext cx="46634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212121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扭矩密度→渗透率 -10.26%（证据 high）；重量→BOM 成本 -5.47%（弹性经招股书材料成本校准）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685800" y="4690872"/>
            <a:ext cx="6949440" cy="841248"/>
          </a:xfrm>
          <a:prstGeom prst="roundRect">
            <a:avLst>
              <a:gd name="adj" fmla="val 9783"/>
            </a:avLst>
          </a:prstGeom>
          <a:solidFill>
            <a:srgbClr val="F4F7FE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68680" y="4745736"/>
            <a:ext cx="1920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④ 因果批判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2834640" y="4745736"/>
            <a:ext cx="46634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212121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12 个替代解释、14 条待补反事实：销量里多少是行业 β、多少是公司 α？置信度 0.5→0.32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7863840" y="1783080"/>
            <a:ext cx="3657600" cy="3977640"/>
          </a:xfrm>
          <a:prstGeom prst="roundRect">
            <a:avLst>
              <a:gd name="adj" fmla="val 2250"/>
            </a:avLst>
          </a:prstGeom>
          <a:solidFill>
            <a:srgbClr val="1E2761"/>
          </a:solidFill>
          <a:ln/>
        </p:spPr>
      </p:sp>
      <p:sp>
        <p:nvSpPr>
          <p:cNvPr id="18" name="Text 16"/>
          <p:cNvSpPr/>
          <p:nvPr/>
        </p:nvSpPr>
        <p:spPr>
          <a:xfrm>
            <a:off x="8046720" y="1965960"/>
            <a:ext cx="3291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CADCF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财务三情景 EV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8046720" y="2468880"/>
            <a:ext cx="3291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0B42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43.4 亿</a:t>
            </a:r>
            <a:endParaRPr lang="en-US" sz="2800" dirty="0"/>
          </a:p>
        </p:txBody>
      </p:sp>
      <p:sp>
        <p:nvSpPr>
          <p:cNvPr id="20" name="Text 18"/>
          <p:cNvSpPr/>
          <p:nvPr/>
        </p:nvSpPr>
        <p:spPr>
          <a:xfrm>
            <a:off x="8046720" y="3017520"/>
            <a:ext cx="3291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ADCF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base 基准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8046720" y="3429000"/>
            <a:ext cx="3291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0B42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69.4 亿</a:t>
            </a:r>
            <a:endParaRPr lang="en-US" sz="2800" dirty="0"/>
          </a:p>
        </p:txBody>
      </p:sp>
      <p:sp>
        <p:nvSpPr>
          <p:cNvPr id="22" name="Text 20"/>
          <p:cNvSpPr/>
          <p:nvPr/>
        </p:nvSpPr>
        <p:spPr>
          <a:xfrm>
            <a:off x="8046720" y="3977640"/>
            <a:ext cx="3291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ADCF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upside 乐观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8046720" y="4389120"/>
            <a:ext cx="3291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0B42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15.8 亿</a:t>
            </a:r>
            <a:endParaRPr lang="en-US" sz="2800" dirty="0"/>
          </a:p>
        </p:txBody>
      </p:sp>
      <p:sp>
        <p:nvSpPr>
          <p:cNvPr id="24" name="Text 22"/>
          <p:cNvSpPr/>
          <p:nvPr/>
        </p:nvSpPr>
        <p:spPr>
          <a:xfrm>
            <a:off x="8046720" y="4937760"/>
            <a:ext cx="3291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ADCF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downside 悲观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8046720" y="5349240"/>
            <a:ext cx="3291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CADCF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原型情景 · 非投资建议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685800" y="5943600"/>
            <a:ext cx="10789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验证强度决定估值强度——这条链路里没有「无条件相信」这个数字。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8412480" y="6446520"/>
            <a:ext cx="3566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37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04.3–4.4 / 10_demo_script</a:t>
            </a:r>
            <a:pPr algn="r" indent="0" marL="0">
              <a:buNone/>
            </a:pPr>
            <a:r>
              <a:rPr lang="en-US" sz="1000" dirty="0">
                <a:solidFill>
                  <a:srgbClr val="5A637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   05 / 12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685800" y="384048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0B42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GENERALITY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658368" y="749808"/>
            <a:ext cx="107899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通用性证明：同一条链路，换一家公司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685800" y="1645920"/>
            <a:ext cx="10789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12121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不是绿的谐波的专用工具——换一组输入文件，就是另一家公司。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685800" y="2240280"/>
            <a:ext cx="10835640" cy="713232"/>
          </a:xfrm>
          <a:prstGeom prst="roundRect">
            <a:avLst>
              <a:gd name="adj" fmla="val 7692"/>
            </a:avLst>
          </a:prstGeom>
          <a:solidFill>
            <a:srgbClr val="F4F7FE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68680" y="2276856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输入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2926080" y="2276856"/>
            <a:ext cx="31089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12121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绿的谐波 fixture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6035040" y="2276856"/>
            <a:ext cx="4572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5A637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→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6492240" y="2276856"/>
            <a:ext cx="48463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12121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双环传动 fixture（rv/gear 双产品线）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685800" y="3081528"/>
            <a:ext cx="10835640" cy="713232"/>
          </a:xfrm>
          <a:prstGeom prst="roundRect">
            <a:avLst>
              <a:gd name="adj" fmla="val 7692"/>
            </a:avLst>
          </a:prstGeom>
          <a:solidFill>
            <a:srgbClr val="F4F7FE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68680" y="3118104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产品线识别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2926080" y="3118104"/>
            <a:ext cx="31089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12121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harmonic / joint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6035040" y="3118104"/>
            <a:ext cx="4572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5A637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→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6492240" y="3118104"/>
            <a:ext cx="48463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12121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rv / gear（detect_product_lines 自动识别）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685800" y="3922776"/>
            <a:ext cx="10835640" cy="713232"/>
          </a:xfrm>
          <a:prstGeom prst="roundRect">
            <a:avLst>
              <a:gd name="adj" fmla="val 7692"/>
            </a:avLst>
          </a:prstGeom>
          <a:solidFill>
            <a:srgbClr val="F4F7FE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68680" y="3959352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映射规则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26080" y="3959352"/>
            <a:ext cx="31089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12121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默认 ontology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6035040" y="3959352"/>
            <a:ext cx="4572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5A637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→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6492240" y="3959352"/>
            <a:ext cx="48463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12121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双环变体（规则级 product_line_scope）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685800" y="4764024"/>
            <a:ext cx="10835640" cy="713232"/>
          </a:xfrm>
          <a:prstGeom prst="roundRect">
            <a:avLst>
              <a:gd name="adj" fmla="val 7692"/>
            </a:avLst>
          </a:prstGeom>
          <a:solidFill>
            <a:srgbClr val="1E2761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68680" y="4800600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0B42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三情景 EV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2926080" y="4800600"/>
            <a:ext cx="31089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43.4 / 69.4 / 15.8 亿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6035040" y="4800600"/>
            <a:ext cx="4572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0B42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→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6492240" y="4800600"/>
            <a:ext cx="48463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72.7 / 122.9 / 19.0 亿（RV 按环动招股书校准）</a:t>
            </a:r>
            <a:endParaRPr lang="en-US" sz="1150" dirty="0"/>
          </a:p>
        </p:txBody>
      </p:sp>
      <p:sp>
        <p:nvSpPr>
          <p:cNvPr id="26" name="Text 24"/>
          <p:cNvSpPr/>
          <p:nvPr/>
        </p:nvSpPr>
        <p:spPr>
          <a:xfrm>
            <a:off x="685800" y="5897880"/>
            <a:ext cx="10789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产品线泛化、ontology 变体、规则级作用域全是代码层实现，有 140 项回归测试锁定。</a:t>
            </a:r>
            <a:endParaRPr lang="en-US" sz="1350" dirty="0"/>
          </a:p>
        </p:txBody>
      </p:sp>
      <p:sp>
        <p:nvSpPr>
          <p:cNvPr id="27" name="Text 25"/>
          <p:cNvSpPr/>
          <p:nvPr/>
        </p:nvSpPr>
        <p:spPr>
          <a:xfrm>
            <a:off x="8412480" y="6446520"/>
            <a:ext cx="3566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37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04 / tests/test_shuanghuan_chain.py</a:t>
            </a:r>
            <a:pPr algn="r" indent="0" marL="0">
              <a:buNone/>
            </a:pPr>
            <a:r>
              <a:rPr lang="en-US" sz="1000" dirty="0">
                <a:solidFill>
                  <a:srgbClr val="5A637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   06 / 12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685800" y="384048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0B42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REVERSE DCF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658368" y="749808"/>
            <a:ext cx="107899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反向 DCF：诚实的估值观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85800" y="1783080"/>
            <a:ext cx="5669280" cy="3749040"/>
          </a:xfrm>
          <a:prstGeom prst="roundRect">
            <a:avLst>
              <a:gd name="adj" fmla="val 2195"/>
            </a:avLst>
          </a:prstGeom>
          <a:solidFill>
            <a:srgbClr val="F4F7FE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14400" y="1920240"/>
            <a:ext cx="5212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市价 ↔ 模型三情景（亿元）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914400" y="2395728"/>
            <a:ext cx="2011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12121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市价（2026-09-04）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914400" y="2724912"/>
            <a:ext cx="4846320" cy="274320"/>
          </a:xfrm>
          <a:prstGeom prst="rect">
            <a:avLst/>
          </a:prstGeom>
          <a:solidFill>
            <a:srgbClr val="F0B429"/>
          </a:solidFill>
          <a:ln/>
        </p:spPr>
      </p:sp>
      <p:sp>
        <p:nvSpPr>
          <p:cNvPr id="9" name="Text 7"/>
          <p:cNvSpPr/>
          <p:nvPr/>
        </p:nvSpPr>
        <p:spPr>
          <a:xfrm>
            <a:off x="5806440" y="2670048"/>
            <a:ext cx="1097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512.96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914400" y="3145536"/>
            <a:ext cx="2011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12121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乐观 upside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914400" y="3474720"/>
            <a:ext cx="552694" cy="27432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12" name="Text 10"/>
          <p:cNvSpPr/>
          <p:nvPr/>
        </p:nvSpPr>
        <p:spPr>
          <a:xfrm>
            <a:off x="1512814" y="3419856"/>
            <a:ext cx="1097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58.5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914400" y="3895344"/>
            <a:ext cx="2011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12121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基准 base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914400" y="4224528"/>
            <a:ext cx="320040" cy="27432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15" name="Text 13"/>
          <p:cNvSpPr/>
          <p:nvPr/>
        </p:nvSpPr>
        <p:spPr>
          <a:xfrm>
            <a:off x="1280160" y="4169664"/>
            <a:ext cx="1097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30.8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914400" y="4645152"/>
            <a:ext cx="2011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12121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悲观 downside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914400" y="4974336"/>
            <a:ext cx="320040" cy="274320"/>
          </a:xfrm>
          <a:prstGeom prst="rect">
            <a:avLst/>
          </a:prstGeom>
          <a:solidFill>
            <a:srgbClr val="5A6372"/>
          </a:solidFill>
          <a:ln/>
        </p:spPr>
      </p:sp>
      <p:sp>
        <p:nvSpPr>
          <p:cNvPr id="18" name="Text 16"/>
          <p:cNvSpPr/>
          <p:nvPr/>
        </p:nvSpPr>
        <p:spPr>
          <a:xfrm>
            <a:off x="1280160" y="4919472"/>
            <a:ext cx="1097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0.9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6629400" y="1783080"/>
            <a:ext cx="4892040" cy="3749040"/>
          </a:xfrm>
          <a:prstGeom prst="roundRect">
            <a:avLst>
              <a:gd name="adj" fmla="val 2195"/>
            </a:avLst>
          </a:prstGeom>
          <a:solidFill>
            <a:srgbClr val="1E2761"/>
          </a:solidFill>
          <a:ln/>
        </p:spPr>
      </p:sp>
      <p:sp>
        <p:nvSpPr>
          <p:cNvPr id="20" name="Text 18"/>
          <p:cNvSpPr/>
          <p:nvPr/>
        </p:nvSpPr>
        <p:spPr>
          <a:xfrm>
            <a:off x="6812280" y="2057400"/>
            <a:ext cx="452628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F0B42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16.7×</a:t>
            </a:r>
            <a:endParaRPr lang="en-US" sz="6000" dirty="0"/>
          </a:p>
        </p:txBody>
      </p:sp>
      <p:sp>
        <p:nvSpPr>
          <p:cNvPr id="21" name="Text 19"/>
          <p:cNvSpPr/>
          <p:nvPr/>
        </p:nvSpPr>
        <p:spPr>
          <a:xfrm>
            <a:off x="6903720" y="3108960"/>
            <a:ext cx="4343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20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市价隐含的销量预期 = 可验证 base 假设的 16.7 倍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6903720" y="4023360"/>
            <a:ext cx="43434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CADCF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我们不做目标价——做「隐含预期 ↔ 已验证证据」对照表，</a:t>
            </a:r>
            <a:endParaRPr lang="en-US" sz="1200" dirty="0"/>
          </a:p>
          <a:p>
            <a:pPr algn="ctr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CADCF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把赔率判断留给买方。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685800" y="5806440"/>
            <a:ext cx="107899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5A637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差额 ≈ 市场为「人形机器人量产期权」付的价格；参数按年报/招股书校准后差距反而更大——原假设其实偏乐观。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8412480" y="6446520"/>
            <a:ext cx="3566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37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05.5 / reverse_dcf()</a:t>
            </a:r>
            <a:pPr algn="r" indent="0" marL="0">
              <a:buNone/>
            </a:pPr>
            <a:r>
              <a:rPr lang="en-US" sz="1000" dirty="0">
                <a:solidFill>
                  <a:srgbClr val="5A637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   07 / 12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685800" y="384048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0B42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ENGINEERING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658368" y="749808"/>
            <a:ext cx="107899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工程可信度：可信不是口号，是测试矩阵和延迟曲线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85800" y="1874520"/>
            <a:ext cx="2651760" cy="1920240"/>
          </a:xfrm>
          <a:prstGeom prst="roundRect">
            <a:avLst>
              <a:gd name="adj" fmla="val 4286"/>
            </a:avLst>
          </a:prstGeom>
          <a:solidFill>
            <a:srgbClr val="F4F7FE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77240" y="1984248"/>
            <a:ext cx="24688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1E2761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140</a:t>
            </a:r>
            <a:endParaRPr lang="en-US" sz="3600" dirty="0"/>
          </a:p>
        </p:txBody>
      </p:sp>
      <p:sp>
        <p:nvSpPr>
          <p:cNvPr id="7" name="Text 5"/>
          <p:cNvSpPr/>
          <p:nvPr/>
        </p:nvSpPr>
        <p:spPr>
          <a:xfrm>
            <a:off x="777240" y="2770632"/>
            <a:ext cx="2468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12121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回归测试全过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777240" y="3136392"/>
            <a:ext cx="2468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A637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含 9 项端到端回归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474720" y="1874520"/>
            <a:ext cx="2651760" cy="1920240"/>
          </a:xfrm>
          <a:prstGeom prst="roundRect">
            <a:avLst>
              <a:gd name="adj" fmla="val 4286"/>
            </a:avLst>
          </a:prstGeom>
          <a:solidFill>
            <a:srgbClr val="F4F7FE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566160" y="1984248"/>
            <a:ext cx="24688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1E2761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</a:t>
            </a:r>
            <a:endParaRPr lang="en-US" sz="3600" dirty="0"/>
          </a:p>
        </p:txBody>
      </p:sp>
      <p:sp>
        <p:nvSpPr>
          <p:cNvPr id="11" name="Text 9"/>
          <p:cNvSpPr/>
          <p:nvPr/>
        </p:nvSpPr>
        <p:spPr>
          <a:xfrm>
            <a:off x="3566160" y="2770632"/>
            <a:ext cx="2468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12121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提案审校 issue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3566160" y="3136392"/>
            <a:ext cx="2468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A637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跨章锚点数字机器对账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6263640" y="1874520"/>
            <a:ext cx="2651760" cy="1920240"/>
          </a:xfrm>
          <a:prstGeom prst="roundRect">
            <a:avLst>
              <a:gd name="adj" fmla="val 4286"/>
            </a:avLst>
          </a:prstGeom>
          <a:solidFill>
            <a:srgbClr val="F4F7FE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355080" y="1984248"/>
            <a:ext cx="24688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1E2761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4.3ms</a:t>
            </a:r>
            <a:endParaRPr lang="en-US" sz="3600" dirty="0"/>
          </a:p>
        </p:txBody>
      </p:sp>
      <p:sp>
        <p:nvSpPr>
          <p:cNvPr id="15" name="Text 13"/>
          <p:cNvSpPr/>
          <p:nvPr/>
        </p:nvSpPr>
        <p:spPr>
          <a:xfrm>
            <a:off x="6355080" y="2770632"/>
            <a:ext cx="2468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12121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规则链延迟 p50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6355080" y="3136392"/>
            <a:ext cx="2468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A637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p95 5.0ms · N=30 实测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052560" y="1874520"/>
            <a:ext cx="2651760" cy="1920240"/>
          </a:xfrm>
          <a:prstGeom prst="roundRect">
            <a:avLst>
              <a:gd name="adj" fmla="val 4286"/>
            </a:avLst>
          </a:prstGeom>
          <a:solidFill>
            <a:srgbClr val="F4F7FE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144000" y="1984248"/>
            <a:ext cx="24688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1E2761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91.8%</a:t>
            </a:r>
            <a:endParaRPr lang="en-US" sz="3600" dirty="0"/>
          </a:p>
        </p:txBody>
      </p:sp>
      <p:sp>
        <p:nvSpPr>
          <p:cNvPr id="19" name="Text 17"/>
          <p:cNvSpPr/>
          <p:nvPr/>
        </p:nvSpPr>
        <p:spPr>
          <a:xfrm>
            <a:off x="9144000" y="2770632"/>
            <a:ext cx="2468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12121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判别准确率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9144000" y="3136392"/>
            <a:ext cx="2468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A637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Claude 91.8 / GPT 90.8（98 用例）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685800" y="4206240"/>
            <a:ext cx="10835640" cy="1737360"/>
          </a:xfrm>
          <a:prstGeom prst="roundRect">
            <a:avLst>
              <a:gd name="adj" fmla="val 4737"/>
            </a:avLst>
          </a:prstGeom>
          <a:solidFill>
            <a:srgbClr val="F4F7FE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960120" y="4389120"/>
            <a:ext cx="10332720" cy="1417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400" b="1" dirty="0">
                <a:solidFill>
                  <a:srgbClr val="1E2761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可信工程的三层含义：
</a:t>
            </a:r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212121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① 每个数字可复算（golden file 回归锁定）；② 每个断言可回溯（证据指纹 + 页码）；③ 每个边界如实标注（降级路径、口径疑点、待验证清单全部写进输出）。
</a:t>
            </a:r>
            <a:pPr indent="0" marL="0">
              <a:lnSpc>
                <a:spcPts val="1900"/>
              </a:lnSpc>
              <a:buNone/>
            </a:pPr>
            <a:r>
              <a:rPr lang="en-US" sz="1150" i="1" dirty="0">
                <a:solidFill>
                  <a:srgbClr val="5A637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离线可复现：无 API key 也能跑完整 Demo——评委现场断网也演示得了。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8412480" y="6446520"/>
            <a:ext cx="3566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37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06.1 / benchmarks/latency_report.md</a:t>
            </a:r>
            <a:pPr algn="r" indent="0" marL="0">
              <a:buNone/>
            </a:pPr>
            <a:r>
              <a:rPr lang="en-US" sz="1000" dirty="0">
                <a:solidFill>
                  <a:srgbClr val="5A637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   08 / 12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685800" y="384048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0B42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BUSINESS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658368" y="749808"/>
            <a:ext cx="107899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商业潜力：市场缺口与定价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85800" y="1783080"/>
            <a:ext cx="5394960" cy="4251960"/>
          </a:xfrm>
          <a:prstGeom prst="roundRect">
            <a:avLst>
              <a:gd name="adj" fmla="val 1935"/>
            </a:avLst>
          </a:prstGeom>
          <a:solidFill>
            <a:srgbClr val="F4F7FE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14400" y="1901952"/>
            <a:ext cx="4937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TAM / SAM / SOM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914400" y="2395728"/>
            <a:ext cx="4937760" cy="713232"/>
          </a:xfrm>
          <a:prstGeom prst="chevron">
            <a:avLst/>
          </a:prstGeom>
          <a:solidFill>
            <a:srgbClr val="1E2761"/>
          </a:solidFill>
          <a:ln/>
        </p:spPr>
      </p:sp>
      <p:sp>
        <p:nvSpPr>
          <p:cNvPr id="8" name="Text 6"/>
          <p:cNvSpPr/>
          <p:nvPr/>
        </p:nvSpPr>
        <p:spPr>
          <a:xfrm>
            <a:off x="914400" y="2487168"/>
            <a:ext cx="4937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TAM 上限锚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868680" y="3172968"/>
            <a:ext cx="5029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A637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谐波环节远期空间 71–603 亿（GGII vs 高盛双口径并列）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1463040" y="3602736"/>
            <a:ext cx="3840480" cy="713232"/>
          </a:xfrm>
          <a:prstGeom prst="chevron">
            <a:avLst/>
          </a:prstGeom>
          <a:solidFill>
            <a:srgbClr val="3A4A9E"/>
          </a:solidFill>
          <a:ln/>
        </p:spPr>
      </p:sp>
      <p:sp>
        <p:nvSpPr>
          <p:cNvPr id="11" name="Text 9"/>
          <p:cNvSpPr/>
          <p:nvPr/>
        </p:nvSpPr>
        <p:spPr>
          <a:xfrm>
            <a:off x="1463040" y="3694176"/>
            <a:ext cx="3840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SAM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868680" y="4379976"/>
            <a:ext cx="5029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A637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买方 / 卖方 / 产业三类客户可服务市场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2011680" y="4809744"/>
            <a:ext cx="2743200" cy="713232"/>
          </a:xfrm>
          <a:prstGeom prst="chevron">
            <a:avLst/>
          </a:prstGeom>
          <a:solidFill>
            <a:srgbClr val="5B6DB8"/>
          </a:solidFill>
          <a:ln/>
        </p:spPr>
      </p:sp>
      <p:sp>
        <p:nvSpPr>
          <p:cNvPr id="14" name="Text 12"/>
          <p:cNvSpPr/>
          <p:nvPr/>
        </p:nvSpPr>
        <p:spPr>
          <a:xfrm>
            <a:off x="2011680" y="4901184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868680" y="5586984"/>
            <a:ext cx="5029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A637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2–6 亿/年（证据服务订阅）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6355080" y="1783080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竞品四大缺口（为什么是我们）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6355080" y="2240280"/>
            <a:ext cx="2560320" cy="640080"/>
          </a:xfrm>
          <a:prstGeom prst="roundRect">
            <a:avLst>
              <a:gd name="adj" fmla="val 8571"/>
            </a:avLst>
          </a:prstGeom>
          <a:solidFill>
            <a:srgbClr val="FFFFFF"/>
          </a:solidFill>
          <a:ln w="15875">
            <a:solidFill>
              <a:srgbClr val="1E2761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355080" y="2240280"/>
            <a:ext cx="25603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无证据分级传导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9052560" y="2240280"/>
            <a:ext cx="2560320" cy="640080"/>
          </a:xfrm>
          <a:prstGeom prst="roundRect">
            <a:avLst>
              <a:gd name="adj" fmla="val 8571"/>
            </a:avLst>
          </a:prstGeom>
          <a:solidFill>
            <a:srgbClr val="FFFFFF"/>
          </a:solidFill>
          <a:ln w="15875">
            <a:solidFill>
              <a:srgbClr val="1E2761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052560" y="2240280"/>
            <a:ext cx="25603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无双账本溯源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6355080" y="3017520"/>
            <a:ext cx="2560320" cy="640080"/>
          </a:xfrm>
          <a:prstGeom prst="roundRect">
            <a:avLst>
              <a:gd name="adj" fmla="val 8571"/>
            </a:avLst>
          </a:prstGeom>
          <a:solidFill>
            <a:srgbClr val="FFFFFF"/>
          </a:solidFill>
          <a:ln w="15875">
            <a:solidFill>
              <a:srgbClr val="1E2761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355080" y="3017520"/>
            <a:ext cx="25603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无因果批判层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9052560" y="3017520"/>
            <a:ext cx="2560320" cy="640080"/>
          </a:xfrm>
          <a:prstGeom prst="roundRect">
            <a:avLst>
              <a:gd name="adj" fmla="val 8571"/>
            </a:avLst>
          </a:prstGeom>
          <a:solidFill>
            <a:srgbClr val="FFFFFF"/>
          </a:solidFill>
          <a:ln w="15875">
            <a:solidFill>
              <a:srgbClr val="1E2761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9052560" y="3017520"/>
            <a:ext cx="25603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无工程口径归一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6355080" y="3977640"/>
            <a:ext cx="51206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1E2761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定价策略：</a:t>
            </a:r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212121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对标金融数据终端与研报服务，按「证据深度」三档分层（基础验证 / 证据链报告 / 定制链路），试点期 5 家付费客户目标。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6355080" y="4937760"/>
            <a:ext cx="51206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1E2761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落地路径：</a:t>
            </a:r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212121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绿的谐波案例报告获客 → 买方研究员工作流嵌入 → API 化输出。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8412480" y="6446520"/>
            <a:ext cx="3566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37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05.1 / 05.6 / 05.7</a:t>
            </a:r>
            <a:pPr algn="r" indent="0" marL="0">
              <a:buNone/>
            </a:pPr>
            <a:r>
              <a:rPr lang="en-US" sz="1000" dirty="0">
                <a:solidFill>
                  <a:srgbClr val="5A637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   09 / 12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685800" y="384048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0B42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ROADMAP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658368" y="749808"/>
            <a:ext cx="107899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路线图：验证期 → 放大期 → 规模期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1097280" y="2377440"/>
            <a:ext cx="9966960" cy="54864"/>
          </a:xfrm>
          <a:prstGeom prst="rect">
            <a:avLst/>
          </a:prstGeom>
          <a:solidFill>
            <a:srgbClr val="CADCFC"/>
          </a:solidFill>
          <a:ln/>
        </p:spPr>
      </p:sp>
      <p:sp>
        <p:nvSpPr>
          <p:cNvPr id="6" name="Shape 4"/>
          <p:cNvSpPr/>
          <p:nvPr/>
        </p:nvSpPr>
        <p:spPr>
          <a:xfrm>
            <a:off x="2377440" y="2212848"/>
            <a:ext cx="384048" cy="384048"/>
          </a:xfrm>
          <a:prstGeom prst="ellipse">
            <a:avLst/>
          </a:prstGeom>
          <a:solidFill>
            <a:srgbClr val="F0B429"/>
          </a:solidFill>
          <a:ln/>
        </p:spPr>
      </p:sp>
      <p:sp>
        <p:nvSpPr>
          <p:cNvPr id="7" name="Shape 5"/>
          <p:cNvSpPr/>
          <p:nvPr/>
        </p:nvSpPr>
        <p:spPr>
          <a:xfrm>
            <a:off x="777240" y="2788920"/>
            <a:ext cx="3611880" cy="2834640"/>
          </a:xfrm>
          <a:prstGeom prst="roundRect">
            <a:avLst>
              <a:gd name="adj" fmla="val 2903"/>
            </a:avLst>
          </a:prstGeom>
          <a:solidFill>
            <a:srgbClr val="F4F7FE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77240" y="2926080"/>
            <a:ext cx="3611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spc="200" kern="0" dirty="0">
                <a:solidFill>
                  <a:srgbClr val="F0B42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0–6 月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777240" y="3246120"/>
            <a:ext cx="3611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1E2761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验证期</a:t>
            </a:r>
            <a:endParaRPr lang="en-US" sz="1900" dirty="0"/>
          </a:p>
        </p:txBody>
      </p:sp>
      <p:sp>
        <p:nvSpPr>
          <p:cNvPr id="10" name="Text 8"/>
          <p:cNvSpPr/>
          <p:nvPr/>
        </p:nvSpPr>
        <p:spPr>
          <a:xfrm>
            <a:off x="1051560" y="3794760"/>
            <a:ext cx="310896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100" dirty="0">
                <a:solidFill>
                  <a:srgbClr val="212121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· Claim 终验 47/51 已完成（余 4 条待厂商 datasheet）
</a:t>
            </a:r>
            <a:pPr indent="0" marL="0">
              <a:lnSpc>
                <a:spcPts val="1700"/>
              </a:lnSpc>
              <a:buNone/>
            </a:pPr>
            <a:r>
              <a:rPr lang="en-US" sz="1100" dirty="0">
                <a:solidFill>
                  <a:srgbClr val="212121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· 5 家付费试点（券商/基金）
</a:t>
            </a:r>
            <a:pPr indent="0" marL="0">
              <a:lnSpc>
                <a:spcPts val="1700"/>
              </a:lnSpc>
              <a:buNone/>
            </a:pPr>
            <a:r>
              <a:rPr lang="en-US" sz="1100" dirty="0">
                <a:solidFill>
                  <a:srgbClr val="212121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· 案例报告产品化
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6263640" y="2212848"/>
            <a:ext cx="384048" cy="384048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2" name="Shape 10"/>
          <p:cNvSpPr/>
          <p:nvPr/>
        </p:nvSpPr>
        <p:spPr>
          <a:xfrm>
            <a:off x="4663440" y="2788920"/>
            <a:ext cx="3611880" cy="2834640"/>
          </a:xfrm>
          <a:prstGeom prst="roundRect">
            <a:avLst>
              <a:gd name="adj" fmla="val 2903"/>
            </a:avLst>
          </a:prstGeom>
          <a:solidFill>
            <a:srgbClr val="F4F7FE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2926080"/>
            <a:ext cx="3611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spc="200" kern="0" dirty="0">
                <a:solidFill>
                  <a:srgbClr val="F0B42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6–18 月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4663440" y="3246120"/>
            <a:ext cx="3611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1E2761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放大期</a:t>
            </a:r>
            <a:endParaRPr lang="en-US" sz="1900" dirty="0"/>
          </a:p>
        </p:txBody>
      </p:sp>
      <p:sp>
        <p:nvSpPr>
          <p:cNvPr id="15" name="Text 13"/>
          <p:cNvSpPr/>
          <p:nvPr/>
        </p:nvSpPr>
        <p:spPr>
          <a:xfrm>
            <a:off x="4937760" y="3794760"/>
            <a:ext cx="310896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100" dirty="0">
                <a:solidFill>
                  <a:srgbClr val="212121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· 实时检索上线（evidence_retriever）
</a:t>
            </a:r>
            <a:pPr indent="0" marL="0">
              <a:lnSpc>
                <a:spcPts val="1700"/>
              </a:lnSpc>
              <a:buNone/>
            </a:pPr>
            <a:r>
              <a:rPr lang="en-US" sz="1100" dirty="0">
                <a:solidFill>
                  <a:srgbClr val="212121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· 专利核验全覆盖
</a:t>
            </a:r>
            <a:pPr indent="0" marL="0">
              <a:lnSpc>
                <a:spcPts val="1700"/>
              </a:lnSpc>
              <a:buNone/>
            </a:pPr>
            <a:r>
              <a:rPr lang="en-US" sz="1100" dirty="0">
                <a:solidFill>
                  <a:srgbClr val="212121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· 覆盖扩展至 50 家公司
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0149840" y="2212848"/>
            <a:ext cx="384048" cy="384048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7" name="Shape 15"/>
          <p:cNvSpPr/>
          <p:nvPr/>
        </p:nvSpPr>
        <p:spPr>
          <a:xfrm>
            <a:off x="8549640" y="2788920"/>
            <a:ext cx="3611880" cy="2834640"/>
          </a:xfrm>
          <a:prstGeom prst="roundRect">
            <a:avLst>
              <a:gd name="adj" fmla="val 2903"/>
            </a:avLst>
          </a:prstGeom>
          <a:solidFill>
            <a:srgbClr val="F4F7FE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549640" y="2926080"/>
            <a:ext cx="3611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spc="200" kern="0" dirty="0">
                <a:solidFill>
                  <a:srgbClr val="F0B42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18–36 月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8549640" y="3246120"/>
            <a:ext cx="3611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1E2761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规模期</a:t>
            </a:r>
            <a:endParaRPr lang="en-US" sz="1900" dirty="0"/>
          </a:p>
        </p:txBody>
      </p:sp>
      <p:sp>
        <p:nvSpPr>
          <p:cNvPr id="20" name="Text 18"/>
          <p:cNvSpPr/>
          <p:nvPr/>
        </p:nvSpPr>
        <p:spPr>
          <a:xfrm>
            <a:off x="8823960" y="3794760"/>
            <a:ext cx="310896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100" dirty="0">
                <a:solidFill>
                  <a:srgbClr val="212121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· 平台化 + API 输出
</a:t>
            </a:r>
            <a:pPr indent="0" marL="0">
              <a:lnSpc>
                <a:spcPts val="1700"/>
              </a:lnSpc>
              <a:buNone/>
            </a:pPr>
            <a:r>
              <a:rPr lang="en-US" sz="1100" dirty="0">
                <a:solidFill>
                  <a:srgbClr val="212121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· 跨行业 ontology 复用
</a:t>
            </a:r>
            <a:pPr indent="0" marL="0">
              <a:lnSpc>
                <a:spcPts val="1700"/>
              </a:lnSpc>
              <a:buNone/>
            </a:pPr>
            <a:r>
              <a:rPr lang="en-US" sz="1100" dirty="0">
                <a:solidFill>
                  <a:srgbClr val="212121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· 证据资产订阅化
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8412480" y="6446520"/>
            <a:ext cx="3566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37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06_roadmap</a:t>
            </a:r>
            <a:pPr algn="r" indent="0" marL="0">
              <a:buNone/>
            </a:pPr>
            <a:r>
              <a:rPr lang="en-US" sz="1000" dirty="0">
                <a:solidFill>
                  <a:srgbClr val="5A637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   10 / 12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685800" y="384048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0B42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COMPLIANCE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658368" y="749808"/>
            <a:ext cx="107899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合规边界：三条红线写进输出层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777240" y="2011680"/>
            <a:ext cx="502920" cy="5029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6" name="Text 4"/>
          <p:cNvSpPr/>
          <p:nvPr/>
        </p:nvSpPr>
        <p:spPr>
          <a:xfrm>
            <a:off x="777240" y="1993392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一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463040" y="1920240"/>
            <a:ext cx="29260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2761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非投资建议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4480560" y="1920240"/>
            <a:ext cx="70408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212121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所有估值输出常驻「原型情景、非投资建议」标注；悲观情景常驻，对冲卖方一致预期的系统性乐观偏差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1463040" y="2971800"/>
            <a:ext cx="9966960" cy="18288"/>
          </a:xfrm>
          <a:prstGeom prst="rect">
            <a:avLst/>
          </a:prstGeom>
          <a:solidFill>
            <a:srgbClr val="CADCFC"/>
          </a:solidFill>
          <a:ln/>
        </p:spPr>
      </p:sp>
      <p:sp>
        <p:nvSpPr>
          <p:cNvPr id="10" name="Shape 8"/>
          <p:cNvSpPr/>
          <p:nvPr/>
        </p:nvSpPr>
        <p:spPr>
          <a:xfrm>
            <a:off x="777240" y="3383280"/>
            <a:ext cx="502920" cy="5029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1" name="Text 9"/>
          <p:cNvSpPr/>
          <p:nvPr/>
        </p:nvSpPr>
        <p:spPr>
          <a:xfrm>
            <a:off x="777240" y="3364992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二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1463040" y="3291840"/>
            <a:ext cx="29260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2761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证据不越级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4480560" y="3291840"/>
            <a:ext cx="70408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212121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券商研报/媒体转述显式降级标注，不与公告原文级证据混用；待验证条目不假装验证过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1463040" y="4343400"/>
            <a:ext cx="9966960" cy="18288"/>
          </a:xfrm>
          <a:prstGeom prst="rect">
            <a:avLst/>
          </a:prstGeom>
          <a:solidFill>
            <a:srgbClr val="CADCFC"/>
          </a:solidFill>
          <a:ln/>
        </p:spPr>
      </p:sp>
      <p:sp>
        <p:nvSpPr>
          <p:cNvPr id="15" name="Shape 13"/>
          <p:cNvSpPr/>
          <p:nvPr/>
        </p:nvSpPr>
        <p:spPr>
          <a:xfrm>
            <a:off x="777240" y="4754880"/>
            <a:ext cx="502920" cy="5029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6" name="Text 14"/>
          <p:cNvSpPr/>
          <p:nvPr/>
        </p:nvSpPr>
        <p:spPr>
          <a:xfrm>
            <a:off x="777240" y="4736592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三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1463040" y="4663440"/>
            <a:ext cx="29260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2761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来源全标注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4480560" y="4663440"/>
            <a:ext cx="70408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212121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每个数字带来源与内容指纹；AI 参与部分按大赛要求如实披露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8412480" y="6446520"/>
            <a:ext cx="3566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37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08_compliance</a:t>
            </a:r>
            <a:pPr algn="r" indent="0" marL="0">
              <a:buNone/>
            </a:pPr>
            <a:r>
              <a:rPr lang="en-US" sz="1000" dirty="0">
                <a:solidFill>
                  <a:srgbClr val="5A637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   11 / 12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54864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0B42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TEAM &amp; CLOSE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85800" y="914400"/>
            <a:ext cx="107899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验证派：经济金融 × 工程 × Agent 开发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731520" y="1965960"/>
            <a:ext cx="3520440" cy="1554480"/>
          </a:xfrm>
          <a:prstGeom prst="roundRect">
            <a:avLst>
              <a:gd name="adj" fmla="val 5294"/>
            </a:avLst>
          </a:prstGeom>
          <a:solidFill>
            <a:srgbClr val="2A377A"/>
          </a:solidFill>
          <a:ln w="12700">
            <a:solidFill>
              <a:srgbClr val="3A4A9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60120" y="2148840"/>
            <a:ext cx="3063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0B42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经济金融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960120" y="2651760"/>
            <a:ext cx="310896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CADCF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Claim 终验、模型参数复核、估值口径裁定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4526280" y="1965960"/>
            <a:ext cx="3520440" cy="1554480"/>
          </a:xfrm>
          <a:prstGeom prst="roundRect">
            <a:avLst>
              <a:gd name="adj" fmla="val 5294"/>
            </a:avLst>
          </a:prstGeom>
          <a:solidFill>
            <a:srgbClr val="2A377A"/>
          </a:solidFill>
          <a:ln w="12700">
            <a:solidFill>
              <a:srgbClr val="3A4A9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754880" y="2148840"/>
            <a:ext cx="3063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0B42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工程实现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4754880" y="2651760"/>
            <a:ext cx="310896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CADCF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验证链 / 归一化 / 映射 / 批判层全栈代码，140 项回归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8321040" y="1965960"/>
            <a:ext cx="3520440" cy="1554480"/>
          </a:xfrm>
          <a:prstGeom prst="roundRect">
            <a:avLst>
              <a:gd name="adj" fmla="val 5294"/>
            </a:avLst>
          </a:prstGeom>
          <a:solidFill>
            <a:srgbClr val="2A377A"/>
          </a:solidFill>
          <a:ln w="12700">
            <a:solidFill>
              <a:srgbClr val="3A4A9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549640" y="2148840"/>
            <a:ext cx="3063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0B42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Agent 设计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8549640" y="2651760"/>
            <a:ext cx="310896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CADCF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工作流编排、证据账本、合规输出层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4727448" y="4114800"/>
            <a:ext cx="2743200" cy="27432"/>
          </a:xfrm>
          <a:prstGeom prst="rect">
            <a:avLst/>
          </a:prstGeom>
          <a:solidFill>
            <a:srgbClr val="F0B429"/>
          </a:solidFill>
          <a:ln/>
        </p:spPr>
      </p:sp>
      <p:sp>
        <p:nvSpPr>
          <p:cNvPr id="14" name="Text 12"/>
          <p:cNvSpPr/>
          <p:nvPr/>
        </p:nvSpPr>
        <p:spPr>
          <a:xfrm>
            <a:off x="731520" y="4434840"/>
            <a:ext cx="106984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把判断权留给人类，把可复算留给机器。</a:t>
            </a:r>
            <a:endParaRPr lang="en-US" sz="3000" dirty="0"/>
          </a:p>
        </p:txBody>
      </p:sp>
      <p:sp>
        <p:nvSpPr>
          <p:cNvPr id="15" name="Text 13"/>
          <p:cNvSpPr/>
          <p:nvPr/>
        </p:nvSpPr>
        <p:spPr>
          <a:xfrm>
            <a:off x="731520" y="5577840"/>
            <a:ext cx="10698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CADCF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Claim2Value · 北大金融 AI 智能体创新大赛 · 谢谢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2026-09-09T14:09:43Z</dcterms:created>
  <dcterms:modified xsi:type="dcterms:W3CDTF">2026-09-09T14:09:43Z</dcterms:modified>
</cp:coreProperties>
</file>